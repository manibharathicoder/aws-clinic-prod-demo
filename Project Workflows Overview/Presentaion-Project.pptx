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66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822960"/>
            <a:ext cx="640080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Pediatric Therapy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133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Brampton &amp; Mississauga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Platform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Project Overview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Clockify · Wix · Square with one HIPAA-compliant platform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943600" cy="914"/>
          </a:xfrm>
          <a:prstGeom prst="rect">
            <a:avLst/>
          </a:prstGeom>
          <a:solidFill>
            <a:srgbClr val="5B7A96"/>
          </a:solidFill>
          <a:ln w="6350">
            <a:solidFill>
              <a:srgbClr val="5B7A9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Technology Consultant   |   March 2026   | 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594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Executive Summary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95160" y="11064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Current Problems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5160" y="16184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130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Business Workflows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26426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HIPAA Compliance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9516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Portal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95160" y="366674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Cost &amp; Timeline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 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Pediatric Therapy is ready to replace three disconnected, non-compliant tools with one unified platform.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20240" cy="118872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being replaced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737360"/>
            <a:ext cx="1920240" cy="118872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savings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920240" cy="118872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compliance 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1737360"/>
            <a:ext cx="1920240" cy="118872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94944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949440" y="2423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compliance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51760" cy="1783080"/>
          </a:xfrm>
          <a:prstGeom prst="rect">
            <a:avLst/>
          </a:prstGeom>
          <a:solidFill>
            <a:srgbClr val="0D2840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2651760" cy="2743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— intake forms, no HIPAA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— scheduling tracking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— manual invoicing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liability exposure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651760" cy="178308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291840" y="3063240"/>
            <a:ext cx="2651760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364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web app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on AWS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billing &amp; payroll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role-based portals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063240"/>
            <a:ext cx="2651760" cy="1783080"/>
          </a:xfrm>
          <a:prstGeom prst="rect">
            <a:avLst/>
          </a:prstGeom>
          <a:solidFill>
            <a:srgbClr val="0D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217920" y="3063240"/>
            <a:ext cx="26517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21792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364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~$230+/month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 achieved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invoice work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Therapists paid automatically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self-serve online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 CURRENT PROBLEMS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subscriptions — full picture.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stays for the marketing website. Clockify and Square are eliminated by the new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560320" cy="54864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time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22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HIPAA BAA · manual cross-check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6002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560320" cy="54864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4612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×2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invoicing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322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HIPAA BAA · manual process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56032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(kept)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website 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322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Intake forms migrate to new platform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90088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71800" y="2240280"/>
            <a:ext cx="228600" cy="0"/>
          </a:xfrm>
          <a:prstGeom prst="line">
            <a:avLst/>
          </a:prstGeom>
          <a:noFill/>
          <a:ln w="19050">
            <a:solidFill>
              <a:srgbClr val="E8634A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824728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33872" y="2240280"/>
            <a:ext cx="228600" cy="0"/>
          </a:xfrm>
          <a:prstGeom prst="line">
            <a:avLst/>
          </a:prstGeom>
          <a:noFill/>
          <a:ln w="19050">
            <a:solidFill>
              <a:srgbClr val="E8634A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20040" y="29992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business cost — stays regardless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29992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by new platform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236976"/>
            <a:ext cx="4846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320040" y="3236976"/>
            <a:ext cx="48463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1148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— kept for marketing website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~$141/mo  ($1,695/yr)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3566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4884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$93.65/yr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~$8/mo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48840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$650.20/yr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~$54/mo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48840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$910.28/yr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0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~$76/mo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48840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$41.01/yr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0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~$3/mo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49240" y="3236976"/>
            <a:ext cx="3383280" cy="1691640"/>
          </a:xfrm>
          <a:prstGeom prst="rect">
            <a:avLst/>
          </a:prstGeom>
          <a:solidFill>
            <a:srgbClr val="FEF2F2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5" name="Shape 43"/>
          <p:cNvSpPr/>
          <p:nvPr/>
        </p:nvSpPr>
        <p:spPr>
          <a:xfrm>
            <a:off x="5349240" y="3236976"/>
            <a:ext cx="3383280" cy="2743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544068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new platform → $0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40680" y="36027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(Team)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360273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40680" y="40416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(×2 accounts)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0" y="4041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~$90/mo + fees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49240" y="4507992"/>
            <a:ext cx="3383280" cy="365760"/>
          </a:xfrm>
          <a:prstGeom prst="rect">
            <a:avLst/>
          </a:prstGeom>
          <a:solidFill>
            <a:srgbClr val="FECAC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5440680" y="4526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eliminated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06640" y="45262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2990088"/>
            <a:ext cx="45720" cy="11338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 rot="16200000">
            <a:off x="73152" y="3246120"/>
            <a:ext cx="256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(stays)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4123944"/>
            <a:ext cx="45720" cy="566928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 rot="16200000">
            <a:off x="73152" y="4215384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 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Five Portals. Full Compliance.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325880"/>
            <a:ext cx="2194560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0" y="1755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474720"/>
            <a:ext cx="155448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84832" y="3456432"/>
            <a:ext cx="155448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084832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84832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· Clients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77256" y="3456432"/>
            <a:ext cx="155448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477256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77256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Payroll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96328" y="3438144"/>
            <a:ext cx="155448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7196328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96328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Notes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03904" y="3438144"/>
            <a:ext cx="155448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803904" y="34838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Portal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03904" y="3785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Invoices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150876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65760" y="43708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84832" y="4343400"/>
            <a:ext cx="150876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084832" y="43708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03904" y="4343400"/>
            <a:ext cx="150876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803904" y="43708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2976" y="4343400"/>
            <a:ext cx="150876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522976" y="43708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42048" y="4343400"/>
            <a:ext cx="150876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7242048" y="437083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Client Intake &amp; Registration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contact to active client — fully automated.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097280" cy="13716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contacts AIM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Email · Website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1554480" y="1600200"/>
            <a:ext cx="1097280" cy="137160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55448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intake 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 portal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5176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2788920" y="1600200"/>
            <a:ext cx="1097280" cy="1371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278892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services + pays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bundle pricing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8620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023360" y="1600200"/>
            <a:ext cx="1097280" cy="13716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02336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7764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account created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776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via email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5257800" y="1600200"/>
            <a:ext cx="1097280" cy="13716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25780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1208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books intake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scheduled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5508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6492240" y="1600200"/>
            <a:ext cx="1097280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649224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4652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complete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written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89520" y="2286000"/>
            <a:ext cx="137160" cy="0"/>
          </a:xfrm>
          <a:prstGeom prst="line">
            <a:avLst/>
          </a:prstGeom>
          <a:noFill/>
          <a:ln w="19050">
            <a:solidFill>
              <a:srgbClr val="5B7A96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7726680" y="1600200"/>
            <a:ext cx="109728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7726680" y="1664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680960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Active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sessions begin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31546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2" name="Shape 40"/>
          <p:cNvSpPr/>
          <p:nvPr/>
        </p:nvSpPr>
        <p:spPr>
          <a:xfrm>
            <a:off x="320040" y="3154680"/>
            <a:ext cx="3931920" cy="274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32004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Assessment Bundle Pricing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3502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only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194560" y="35021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35021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37581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only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194560" y="37581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26080" y="37581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0142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only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194560" y="4014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26080" y="40142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2702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 services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194560" y="42702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926080" y="42702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$200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526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services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194560" y="45262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926080" y="45262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$275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89120" y="3154680"/>
            <a:ext cx="4343400" cy="1737360"/>
          </a:xfrm>
          <a:prstGeom prst="rect">
            <a:avLst/>
          </a:prstGeom>
          <a:solidFill>
            <a:srgbClr val="E0F7F4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452628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HIPAA Safeguards in Intake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26280" y="3547872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processed via Stripe — PCI-DSS compliant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tokenized — never stored in AIM database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form data encrypted at rest (AES-256)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signatures stored with audit timestamp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portal account created with invite-only access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— Session Scheduling &amp; Management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calendar. Role-based access. Automated notifications.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965960" cy="3200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sessions across all locations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edit, cancel any session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client names + clinical notes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rates and billing on sessions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all changes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65960" cy="320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251460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956816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therapist calendars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sessions for any client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cancel sessions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new session button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time (late pickup etc.)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196596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0916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956816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own schedule only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weekly calendar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therapist availability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cover if needed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sessions complete/no-show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196596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903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956816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completed sessions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billing rate per session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for payroll calculation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booking capability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 — Cancellation Policy (Automated)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enforces policy automatically — no manual tracking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9659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24+ hours before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charge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 — $0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paid — $0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9300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freebie consumed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32888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2532888" y="1600200"/>
            <a:ext cx="196596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2532888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emergency cancellation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24328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charge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24328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charge — $0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24328" y="271576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2624328" y="2761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24328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if came to clinic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(centre task rate)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24328" y="349300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2624328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free per client per month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on 1st of month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45736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4745736" y="1600200"/>
            <a:ext cx="19659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745736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cancel (under 24 hrs)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37176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charge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37176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50% of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37176" y="271576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837176" y="2761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37176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if came to clinic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(centre task rate)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37176" y="349300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4837176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auto-generated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50% rate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58584" y="160020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6958584" y="1600200"/>
            <a:ext cx="1965960" cy="34747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958584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50024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charge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50024" y="2194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50% of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0024" y="271576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7050024" y="2761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50024" y="2944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if came to clinic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(centre task rate)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50024" y="3493008"/>
            <a:ext cx="1783080" cy="0"/>
          </a:xfrm>
          <a:prstGeom prst="line">
            <a:avLst/>
          </a:prstGeom>
          <a:noFill/>
          <a:ln w="635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44"/>
          <p:cNvSpPr/>
          <p:nvPr/>
        </p:nvSpPr>
        <p:spPr>
          <a:xfrm>
            <a:off x="7050024" y="35387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marks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Show in app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E0F7F4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automatically checks freebie status → calculates charge → generates invoice → notifies therapist and family. Zero manual work.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4 — Weekly Billing Cycle (Automated)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build themselves. Admin reviews. Families pay in one click.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8016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028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24028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20040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16052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6052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2064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12064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run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1600200"/>
            <a:ext cx="841248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08076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closes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40880" y="1600200"/>
            <a:ext cx="841248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04088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invoices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01000" y="1600200"/>
            <a:ext cx="841248" cy="1463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8001000" y="1645920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01000" y="1965960"/>
            <a:ext cx="841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sent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 auto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32461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Invoice Types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358444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320040" y="3584448"/>
            <a:ext cx="19659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1148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Session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9319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every Tuesday after admin review. All sessions for the week bundled.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14600" y="358444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2514600" y="3584448"/>
            <a:ext cx="196596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260604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Assessment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06040" y="39319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form submission. Bundle pricing applied. Paid immediately by family.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58444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4709160" y="3584448"/>
            <a:ext cx="196596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480060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Program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00600" y="39319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enrolment. Must be paid in full before scheduling begins.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358444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6903720" y="3584448"/>
            <a:ext cx="1965960" cy="54864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6995160" y="3675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Charge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95160" y="393192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on late cancel or no-show. Added to weekly invoice at 50%.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5 — Therapist Payroll (Automated)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generates pay statements. Therapists review. No more manual invoice cross-checking.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393192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931920" cy="32004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  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manually tracks hours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sends invoice to AIM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cross-checks with Clockify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back and forth for discrepancies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manual reconciliation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errors and disputes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is a separate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4343400" cy="3291840"/>
          </a:xfrm>
          <a:prstGeom prst="rect">
            <a:avLst/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434340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434840" y="16002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  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011680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records every session automatically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statement generated by system on 15th &amp; last day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reviews statement in portal (48hr window)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raised in-app — no email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approves in one click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sent automatically on schedule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completely eliminated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754880"/>
            <a:ext cx="845820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periods: 1st–15th (paid on 15th of following month)  ·  16th–last day (paid on last day of following month)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BUSINESS WORKFLOWS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6 — Location-Based Pricing &amp; Rates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Brampton and Mississauga have different rates. All managed by Accounting only.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160520" cy="3200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Brampton Price Group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11480" y="2176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Clinic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176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$65/hr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In home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4597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$80/hr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715768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11480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Online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3240" y="2743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$65/hr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0266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Supervision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3026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$80/hr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282696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11480" y="33101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Assessment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3310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593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SLP Assessment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593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49624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1148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Therapy — Clinic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63240" y="3877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$160/hr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4160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Therapy — Clinic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63240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$160/hr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16552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11480" y="4443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Pick up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44439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$65/hr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4727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— Regular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63240" y="4727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$32.50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16002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4800600" y="1600200"/>
            <a:ext cx="416052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800600" y="1600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Mississauga Price Group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1920240"/>
            <a:ext cx="4160520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4892040" y="1920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43800" y="1920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2148840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4892040" y="2176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Clinic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43800" y="2176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$75/hr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92040" y="24597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In home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43800" y="24597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$85/hr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2715768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4892040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Direct — Online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43800" y="2743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$75/hr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92040" y="30266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Supervision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43800" y="3026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$95/hr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00600" y="3282696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4892040" y="33101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— ABA/OT/SLP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43800" y="33101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892040" y="3593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Therapy — Clinic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43800" y="35935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$180/hr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00600" y="3849624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489204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Therapy — Clinic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543800" y="3877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$160/hr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92040" y="41605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Pick up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43800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$75/hr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0600" y="4416552"/>
            <a:ext cx="4160520" cy="265176"/>
          </a:xfrm>
          <a:prstGeom prst="rect">
            <a:avLst/>
          </a:prstGeom>
          <a:solidFill>
            <a:srgbClr val="FAFB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5" name="Text 63"/>
          <p:cNvSpPr/>
          <p:nvPr/>
        </p:nvSpPr>
        <p:spPr>
          <a:xfrm>
            <a:off x="4892040" y="4443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— ABA Clinic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43800" y="44439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$37.50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92040" y="47274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— OT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43800" y="4727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0040" y="4754880"/>
            <a:ext cx="8458200" cy="274320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Text 68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rates visible to Accounting and Super Admin only. Admin assigns price group name — never sees dollar amounts.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840"/>
          </a:solidFill>
          <a:ln w="12700">
            <a:solidFill>
              <a:srgbClr val="0D28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274320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What we do. What happens if you don't.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 HIPAA COMPLIANCE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HIPAA and Does AIM Need It?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any organisation handling patient health information must comply.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54864" cy="1463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Defined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Portability and Accountability Act (1996)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federal law protecting patient health information (PHI)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"covered entities" — including therapy clinics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range from $100 to $1.9M per violation per year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54864" cy="146304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754880" y="16733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Is a Covered Entity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handles Protected Health Information (PHI) daily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includes: client names, diagnoses, session notes, DOB, insurance info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intake form, session note, and invoice contains PHI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current tools (Wix, Clockify, Square) have NO HIPAA coverage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2004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PHI at AIM?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1325880" cy="100584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2004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name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diagnosis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3520440"/>
            <a:ext cx="1325880" cy="10058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78308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520440"/>
            <a:ext cx="1325880" cy="10058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24612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health card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520440"/>
            <a:ext cx="132588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70916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info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132588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17220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consents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520440"/>
            <a:ext cx="132588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635240" y="3566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 HIPAA COMPLIANCE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Requirements vs What We're Building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mapped to a specific technical safeguard in the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Requirement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0" y="16276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to comply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Associate Agreement (BAA)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60520" y="1975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AWS BAA signed — free via AWS Artifact portal. Makes AWS our compliant PHI processor.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22576"/>
            <a:ext cx="850392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at rest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60520" y="2377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PHI encrypted using AES-256 in AWS RDS (database) and AWS S3 (documents).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24912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7200" y="27797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in transit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60520" y="27797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traffic uses TLS 1.3 — the strongest available. AWS Certificate Manager (free).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27248"/>
            <a:ext cx="850392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57200" y="3182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&amp; authentication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60520" y="31821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 control (RBAC). MFA required for Super Admin and Accounting.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320040" y="3529584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necessary access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35844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role only receives the data their permissions allow. API enforces this — not just UI.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931920"/>
            <a:ext cx="850392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320040" y="3931920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457200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controls &amp; logs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39867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7-year tamper-proof audit log. Every login, data access, and change recorded with timestamp.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334256"/>
            <a:ext cx="8503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320040" y="4334256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 management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60520" y="4389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30-minute auto-timeout. Re-authentication required. Invite-only portal access.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0392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320040" y="4736592"/>
            <a:ext cx="54864" cy="37490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57200" y="4791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disposal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60520" y="47914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retention policies configurable. Secure deletion on account close. S3 lifecycle rules.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 HIPAA 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Non-Compliance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penalties. Real examples. Real risk for AIM right now.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965960" cy="1463040"/>
          </a:xfrm>
          <a:prstGeom prst="rect">
            <a:avLst/>
          </a:prstGeom>
          <a:solidFill>
            <a:srgbClr val="0D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9659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know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– $50,000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1691640"/>
            <a:ext cx="1965960" cy="1463040"/>
          </a:xfrm>
          <a:prstGeom prst="rect">
            <a:avLst/>
          </a:prstGeom>
          <a:solidFill>
            <a:srgbClr val="0D2840"/>
          </a:solidFill>
          <a:ln w="12700">
            <a:solidFill>
              <a:srgbClr val="E896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2532888" y="1691640"/>
            <a:ext cx="1965960" cy="274320"/>
          </a:xfrm>
          <a:prstGeom prst="rect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2532888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011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cause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– $100,000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45736" y="1691640"/>
            <a:ext cx="1965960" cy="1463040"/>
          </a:xfrm>
          <a:prstGeom prst="rect">
            <a:avLst/>
          </a:prstGeom>
          <a:solidFill>
            <a:srgbClr val="0D2840"/>
          </a:solidFill>
          <a:ln w="12700">
            <a:solidFill>
              <a:srgbClr val="D970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745736" y="1691640"/>
            <a:ext cx="1965960" cy="274320"/>
          </a:xfrm>
          <a:prstGeom prst="rect">
            <a:avLst/>
          </a:prstGeom>
          <a:solidFill>
            <a:srgbClr val="D97030"/>
          </a:solidFill>
          <a:ln w="12700">
            <a:solidFill>
              <a:srgbClr val="D9703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745736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2011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Wilful neglect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(corrected)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45736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– $250,000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58584" y="1691640"/>
            <a:ext cx="1965960" cy="1463040"/>
          </a:xfrm>
          <a:prstGeom prst="rect">
            <a:avLst/>
          </a:prstGeom>
          <a:solidFill>
            <a:srgbClr val="0D2840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958584" y="1691640"/>
            <a:ext cx="1965960" cy="2743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958584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58584" y="2011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Wilful neglect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corrected)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58584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– $1.9M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 per year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291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of HIPAA Fines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1965960" cy="1371600"/>
          </a:xfrm>
          <a:prstGeom prst="rect">
            <a:avLst/>
          </a:prstGeom>
          <a:solidFill>
            <a:srgbClr val="0D2840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11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clinic in Texas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patient records on laptop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32888" y="3611880"/>
            <a:ext cx="1965960" cy="1371600"/>
          </a:xfrm>
          <a:prstGeom prst="rect">
            <a:avLst/>
          </a:prstGeom>
          <a:solidFill>
            <a:srgbClr val="0D2840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2624328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practice (Florida)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2432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24328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stored in non-compliant cloud tool without BAA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45736" y="3611880"/>
            <a:ext cx="1965960" cy="1371600"/>
          </a:xfrm>
          <a:prstGeom prst="rect">
            <a:avLst/>
          </a:prstGeom>
          <a:solidFill>
            <a:srgbClr val="0D2840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4837176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hospital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37176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$218,400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37176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staff accessing patient records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58584" y="3611880"/>
            <a:ext cx="1965960" cy="1371600"/>
          </a:xfrm>
          <a:prstGeom prst="rect">
            <a:avLst/>
          </a:prstGeom>
          <a:solidFill>
            <a:srgbClr val="0D2840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7050024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therapy provider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50024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$80,000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50024" y="4297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non-compliant scheduling software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 PORTAL OVERVIEW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Role-Based Portals — One Unified Login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app. Different access. Every role sees exactly what they need.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00200" cy="5029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owners · Consultant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all portals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&amp; roles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permissions matrix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 &amp; config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HIPAA audit log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75688" y="160020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2075688" y="1600200"/>
            <a:ext cx="1600200" cy="5029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2075688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75688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· Coordinators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67128" y="2148840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all therapists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intake management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invoice review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actions queue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messaging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31336" y="160020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831336" y="1600200"/>
            <a:ext cx="1600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831336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22776" y="2148840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invoicing &amp; payments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payroll run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management (hidden)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OAP &amp; insurance billing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86984" y="160020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5586984" y="1600200"/>
            <a:ext cx="16002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586984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6984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therapists (20–35)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78424" y="2148840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schedule calendar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(2-tier)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request system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statement review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staff chat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42632" y="1600200"/>
            <a:ext cx="1600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7342632" y="1600200"/>
            <a:ext cx="1600200" cy="50292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342632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Portal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42632" y="18928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guardians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434072" y="2148840"/>
            <a:ext cx="1417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sessions &amp; progress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payment portal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or manual pay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clinic messaging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receipts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 PORTAL OVERVIEW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Access — Who Sees What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 restricted at database level, not just the interface.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44368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25696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07024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88352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65760" y="19385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therapist schedules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44368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07024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88352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139696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65760" y="21579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edit sessions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4368" y="2157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25696" y="2157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07024" y="2157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88352" y="2157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359152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365760" y="2377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profiles (basic)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44368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25696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07024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only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88352" y="2377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578608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365760" y="25968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clinical notes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44368" y="25968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25696" y="25968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07024" y="25968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88352" y="25968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only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798064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365760" y="28163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rates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44368" y="28163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25696" y="28163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07024" y="28163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88352" y="28163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017520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365760" y="30358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pay rates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44368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25696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07024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88352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3236976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365760" y="32552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invoices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44368" y="32552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425696" y="32552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07024" y="32552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88352" y="32552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3456432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365760" y="34747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reports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944368" y="34747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425696" y="34747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907024" y="34747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88352" y="34747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365760" y="369417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944368" y="3694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425696" y="3694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907024" y="3694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388352" y="3694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20040" y="3895344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8" name="Text 66"/>
          <p:cNvSpPr/>
          <p:nvPr/>
        </p:nvSpPr>
        <p:spPr>
          <a:xfrm>
            <a:off x="365760" y="39136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944368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425696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907024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388352" y="3913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Text 72"/>
          <p:cNvSpPr/>
          <p:nvPr/>
        </p:nvSpPr>
        <p:spPr>
          <a:xfrm>
            <a:off x="365760" y="4133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(write)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944368" y="4133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425696" y="4133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907024" y="4133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388352" y="4133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sessions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" y="4334256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Text 78"/>
          <p:cNvSpPr/>
          <p:nvPr/>
        </p:nvSpPr>
        <p:spPr>
          <a:xfrm>
            <a:off x="365760" y="4352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2944368" y="43525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425696" y="43525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907024" y="43525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388352" y="43525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clients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4553712"/>
            <a:ext cx="85039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6" name="Text 84"/>
          <p:cNvSpPr/>
          <p:nvPr/>
        </p:nvSpPr>
        <p:spPr>
          <a:xfrm>
            <a:off x="365760" y="45720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chat (DMs)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2944368" y="4572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425696" y="4572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5907024" y="4572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388352" y="45720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2" name="Text 90"/>
          <p:cNvSpPr/>
          <p:nvPr/>
        </p:nvSpPr>
        <p:spPr>
          <a:xfrm>
            <a:off x="365760" y="47914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messaging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2944368" y="4791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425696" y="4791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5907024" y="4791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388352" y="4791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clients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 COST &amp; TIMELINE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Hosting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HIPAA-eligible infrastructure. BAA is free. SSL is free.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54864" cy="3931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16550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655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6550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portal interfaces — runs in browser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29968"/>
            <a:ext cx="85039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54864" cy="39319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57200" y="2084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authentication, permissions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59736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320040" y="2459736"/>
            <a:ext cx="54864" cy="3931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2514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PostgreSQL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storage — HIPAA eligible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89504"/>
            <a:ext cx="85039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20040" y="2889504"/>
            <a:ext cx="54864" cy="39319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57200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2316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29443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forms, reports — AES-256 encrypted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19272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320040" y="3319272"/>
            <a:ext cx="54864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57200" y="3374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3374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MFA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37413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with multi-factor auth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749040"/>
            <a:ext cx="85039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320040" y="3749040"/>
            <a:ext cx="54864" cy="39319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57200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23160" y="3803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09160" y="3803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reminders, portal invites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8503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320040" y="4178808"/>
            <a:ext cx="54864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457200" y="42336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23160" y="4233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Helcim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42336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compliant — card data never in AIM DB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608576"/>
            <a:ext cx="8503920" cy="3931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41"/>
          <p:cNvSpPr/>
          <p:nvPr/>
        </p:nvSpPr>
        <p:spPr>
          <a:xfrm>
            <a:off x="320040" y="4608576"/>
            <a:ext cx="54864" cy="39319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42316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Artifact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4663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signed online — makes AWS our compliant partner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 COST &amp; TIMELINE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— Save Money &amp; Get Compliant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platform costs less than what you're already paying for three broken tools.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393192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36576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(all plans — stays)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0" y="2011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~$141/mo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157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6576" cy="22860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66928" y="2487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Team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6576" cy="22860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66928" y="29626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(×2 accounts)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29626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~$90+fees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3657600" cy="457200"/>
          </a:xfrm>
          <a:prstGeom prst="rect">
            <a:avLst/>
          </a:prstGeom>
          <a:solidFill>
            <a:srgbClr val="FECAC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36576" cy="22860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66928" y="34381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operational spend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438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~$371+/mo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HIPAA compliance  ·  Wix stays for marketing website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1600200"/>
            <a:ext cx="4343400" cy="2743200"/>
          </a:xfrm>
          <a:prstGeom prst="rect">
            <a:avLst/>
          </a:prstGeom>
          <a:solidFill>
            <a:srgbClr val="E8F8F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434840" y="1600200"/>
            <a:ext cx="434340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434840" y="160020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Platform Monthly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+ RDS + S3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20116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SES + SNS + CloudWatch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24871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9626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962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438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 (÷12)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34381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 (mobile phase)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877056"/>
            <a:ext cx="4069080" cy="457200"/>
          </a:xfrm>
          <a:prstGeom prst="rect">
            <a:avLst/>
          </a:prstGeom>
          <a:solidFill>
            <a:srgbClr val="B2DFDB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572000" y="3913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(web only)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3913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~$63/mo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3977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HIPAA compliance included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480560"/>
            <a:ext cx="8458200" cy="502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from eliminating Clockify + Square: ~$230+/mo  ·  ~$2,760+/year  ·  PLUS full HIPAA compliance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 COST &amp; TIMELINE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54864" cy="5029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Phased Approach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first. Working system fast. Mobile app as Phase 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57200" cy="10972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AWS setup, BAA, Super Admin portal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" y="23865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End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246120" y="1600200"/>
            <a:ext cx="457200" cy="10972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246120" y="16002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76472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76472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scheduling module, cover requests, rooms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76472" y="23865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160020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457200" cy="10972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172200" y="160020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02552" y="1691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02552" y="194767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form, pricing, payment, account creation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02552" y="23865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8346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45720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" y="31821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engine, auto-pay, price groups, rates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" y="36210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46120" y="28346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3246120" y="2834640"/>
            <a:ext cx="457200" cy="1097280"/>
          </a:xfrm>
          <a:prstGeom prst="rect">
            <a:avLst/>
          </a:prstGeom>
          <a:solidFill>
            <a:srgbClr val="E8634A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3246120" y="28346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76472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76472" y="31821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Accounting, Therapist, Family portals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76472" y="36210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83464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Shape 36"/>
          <p:cNvSpPr/>
          <p:nvPr/>
        </p:nvSpPr>
        <p:spPr>
          <a:xfrm>
            <a:off x="6172200" y="2834640"/>
            <a:ext cx="457200" cy="109728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172200" y="283464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02552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02552" y="31821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statements, disputes, payroll approvals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02552" y="36210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0690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320040" y="4069080"/>
            <a:ext cx="457200" cy="10972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320040" y="4069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50392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" y="4416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reports, KPI dashboard, exports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" y="48554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46120" y="40690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0" name="Shape 48"/>
          <p:cNvSpPr/>
          <p:nvPr/>
        </p:nvSpPr>
        <p:spPr>
          <a:xfrm>
            <a:off x="3246120" y="4069080"/>
            <a:ext cx="457200" cy="10972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3246120" y="4069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776472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776472" y="4416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 CSV import, data mapping, validation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776472" y="48554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72200" y="406908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6172200" y="4069080"/>
            <a:ext cx="45720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>
            <a:off x="6172200" y="406908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702552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702552" y="44165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 &amp; Android (Phase 2)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02552" y="485546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Move Forward?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exactly what needs to happen to get started.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this specification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sign off on the project spec document. Confirm any open items (HST, clinical tools).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AWS account + sign BAA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359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1 hour. Free. This is the legal foundation for HIPAA compliance. We do this together.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payment 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359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Stripe or Helcim as payment processor. Create account. No monthly fee — pay-per-transaction.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10896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858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HST with accountant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services are HST-exempt? System configured by Super Admin after confirmation.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29000" y="310896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E863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52044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current data for migration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therapist list, client list, and Clockify history. We handle the import.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2606040" cy="1234440"/>
          </a:xfrm>
          <a:prstGeom prst="rect">
            <a:avLst/>
          </a:prstGeom>
          <a:solidFill>
            <a:srgbClr val="0D2840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3550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7764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starts. You'll see working software within 3–4 weeks of project kickoff.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6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Pediatric Therapy — Unified Digital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423160"/>
            <a:ext cx="5486400" cy="347472"/>
          </a:xfrm>
          <a:prstGeom prst="rect">
            <a:avLst/>
          </a:prstGeom>
          <a:solidFill>
            <a:srgbClr val="0D28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1920240" y="2441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3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24414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unified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807208"/>
            <a:ext cx="5486400" cy="347472"/>
          </a:xfrm>
          <a:prstGeom prst="rect">
            <a:avLst/>
          </a:prstGeom>
          <a:solidFill>
            <a:srgbClr val="0D28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920240" y="2825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Clockify+Square $230/mo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1960" y="2825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$0 (eliminated)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191256"/>
            <a:ext cx="5486400" cy="347472"/>
          </a:xfrm>
          <a:prstGeom prst="rect">
            <a:avLst/>
          </a:prstGeom>
          <a:solidFill>
            <a:srgbClr val="0D28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192024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HIPAA compliance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3209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3575304"/>
            <a:ext cx="5486400" cy="347472"/>
          </a:xfrm>
          <a:prstGeom prst="rect">
            <a:avLst/>
          </a:prstGeom>
          <a:solidFill>
            <a:srgbClr val="0D28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920240" y="3593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51960" y="3593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statements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3959352"/>
            <a:ext cx="5486400" cy="347472"/>
          </a:xfrm>
          <a:prstGeom prst="rect">
            <a:avLst/>
          </a:prstGeom>
          <a:solidFill>
            <a:srgbClr val="0D28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1920240" y="3977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3977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 Tuesday sends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·   Let's discuss next steps.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 · 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6117</TotalTime>
  <Words>2642</Words>
  <Application>Microsoft Office PowerPoint</Application>
  <PresentationFormat>On-screen Show (16:9)</PresentationFormat>
  <Paragraphs>688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Pediatric Therapy — Platform Proposal</dc:title>
  <dc:subject>PptxGenJS Presentation</dc:subject>
  <dc:creator>Technology Consultant</dc:creator>
  <cp:lastModifiedBy>Sri Hari Ganesh Babu</cp:lastModifiedBy>
  <cp:revision>2</cp:revision>
  <dcterms:created xsi:type="dcterms:W3CDTF">2026-03-22T16:40:53Z</dcterms:created>
  <dcterms:modified xsi:type="dcterms:W3CDTF">2026-03-28T16:35:19Z</dcterms:modified>
</cp:coreProperties>
</file>